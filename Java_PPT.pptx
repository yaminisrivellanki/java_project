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9"/>
  </p:notesMasterIdLst>
  <p:sldIdLst>
    <p:sldId id="256" r:id="rId5"/>
    <p:sldId id="257" r:id="rId6"/>
    <p:sldId id="258" r:id="rId7"/>
    <p:sldId id="259" r:id="rId8"/>
    <p:sldId id="274" r:id="rId9"/>
    <p:sldId id="278" r:id="rId10"/>
    <p:sldId id="280" r:id="rId11"/>
    <p:sldId id="283" r:id="rId12"/>
    <p:sldId id="285" r:id="rId13"/>
    <p:sldId id="284" r:id="rId14"/>
    <p:sldId id="271" r:id="rId15"/>
    <p:sldId id="292" r:id="rId16"/>
    <p:sldId id="293" r:id="rId17"/>
    <p:sldId id="281" r:id="rId18"/>
    <p:sldId id="287" r:id="rId19"/>
    <p:sldId id="289" r:id="rId20"/>
    <p:sldId id="288" r:id="rId21"/>
    <p:sldId id="294" r:id="rId22"/>
    <p:sldId id="295" r:id="rId23"/>
    <p:sldId id="296" r:id="rId24"/>
    <p:sldId id="290" r:id="rId25"/>
    <p:sldId id="291" r:id="rId26"/>
    <p:sldId id="268" r:id="rId27"/>
    <p:sldId id="269" r:id="rId2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>
        <p:scale>
          <a:sx n="75" d="100"/>
          <a:sy n="75" d="100"/>
        </p:scale>
        <p:origin x="1478" y="2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A07A5-14C6-E585-8655-9D9D52E5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451EA-1440-E913-BE4A-B614B423C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B861F-0E31-A9FE-3DE3-C88AA9FDC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3FD6E-6CD7-73E7-5843-F5D2AC9D0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18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D6944-C75D-642A-33EC-861C4C9E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92471-DA30-4B37-FCA6-6EF20124D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FE530-0FC2-EC25-4907-8124FE661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AE0AE-6066-70F2-58D0-DE497EDE9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059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C70F2-0EF9-0550-A72E-404207C3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00AA8-577A-B5F3-39C0-0D9C6D252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2C486-2F3A-630C-86E2-8D8A883F7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BFAA6-56A9-3BDB-EAC1-346BC26C2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100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C5139-1AFF-D3A0-DDED-EC44904EB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CAA4A-8CBD-6631-C71D-AC4F63D9D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0C2C8-43BC-835F-52A1-5BF2FAEB5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6ACFE-808B-4C46-05B5-18378E07F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854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F3C5F-A554-F21A-66A3-906E953FA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D1B9A-A88F-793B-25C1-782B2257E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10047-F85D-9E71-5F2B-9845B122E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C837B-4585-D591-A49A-9217B01FA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806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BAAFE-273D-1ADB-0122-ABA04976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79C0A-03D7-61D7-1FB6-A5AA96F5E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127F9-490A-3135-297E-4EE77ADA6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D227C-23AC-26A2-BC4A-8D7A10BEF4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307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E3C7-4CAC-83C5-06C3-42A79AAC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8F73F-5430-C4C7-24B7-978CB7B2C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D4E0F-8063-6714-0B2B-C4C7BFB3B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0EE7-BED2-805A-A166-2B514D3FD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30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65D4-DEED-8F77-7875-441F7EC65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0EE74-7167-873A-95DE-2209D38A4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B17A6-C5DF-DF2F-3449-59AE0E1E5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6B2E7-A9E4-7C60-5E8B-7C360EA4C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1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78334-1E7C-9B5D-22F4-8A0874D2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A05E5-57D3-9020-E1E8-13EECF182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E5D61-29D8-36CA-3B49-ED30EB6DC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6CBA9-998B-04E1-4DEE-A9C5048977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980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0228F-58ED-A8A9-83F6-417BF9E8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092AC-450B-ED20-CC0E-863B8D3FB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D67FF-E9BF-B02A-BB9A-F8D92EE15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8B14A-9DA2-06A7-BD4E-CC42A4DF4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7341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7ED17-4EB0-DA10-667D-FDC571B9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B260D-BE6B-F9F8-A82E-B09691461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6F253-A205-DA7D-62BA-EA3EB8678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E4E86-35EE-2AB6-1DF9-C5F0DCD4D0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4855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1041F-5EBC-DFE1-A192-F5D3248BC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1D250-AE81-C0AC-7B49-A75C04B45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5CF72-DA6C-3A93-B137-5B75FCF56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7DC1F-9EE1-2AFF-B98A-83327CF265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535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404FE-C719-82E1-793B-4329717CC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460DF-51C1-36D1-DEAC-BE623D9DC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E25A3-F1A2-B002-C6AA-4854AF417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4C2DD-F9DE-E04C-F953-F08B1B62A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54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geeksforgeeks.org/jdbc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356892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STUDENT COURSE REGISTRATION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spcBef>
                <a:spcPts val="750"/>
              </a:spcBef>
            </a:pPr>
            <a:r>
              <a:rPr lang="en-IN" sz="1800" dirty="0">
                <a:solidFill>
                  <a:schemeClr val="accent1">
                    <a:lumMod val="50000"/>
                  </a:schemeClr>
                </a:solidFill>
              </a:rPr>
              <a:t> T. Kalpana(24B11DS208)</a:t>
            </a:r>
            <a:br>
              <a:rPr lang="en-IN" sz="1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sz="1800" dirty="0">
                <a:solidFill>
                  <a:schemeClr val="accent1">
                    <a:lumMod val="50000"/>
                  </a:schemeClr>
                </a:solidFill>
              </a:rPr>
              <a:t>    V. Yamini Sri(24B11DS221</a:t>
            </a:r>
            <a:br>
              <a:rPr lang="en-IN" sz="1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sz="1800" dirty="0">
                <a:solidFill>
                  <a:schemeClr val="accent1">
                    <a:lumMod val="50000"/>
                  </a:schemeClr>
                </a:solidFill>
              </a:rPr>
              <a:t>     Y. </a:t>
            </a:r>
            <a:r>
              <a:rPr lang="en-IN" sz="1800" dirty="0" err="1">
                <a:solidFill>
                  <a:schemeClr val="accent1">
                    <a:lumMod val="50000"/>
                  </a:schemeClr>
                </a:solidFill>
              </a:rPr>
              <a:t>Yasaswini</a:t>
            </a:r>
            <a:r>
              <a:rPr lang="en-IN" sz="1800" dirty="0">
                <a:solidFill>
                  <a:schemeClr val="accent1">
                    <a:lumMod val="50000"/>
                  </a:schemeClr>
                </a:solidFill>
              </a:rPr>
              <a:t> (24B11DS231)</a:t>
            </a:r>
          </a:p>
          <a:p>
            <a:pPr marL="3810" algn="ctr">
              <a:spcBef>
                <a:spcPts val="750"/>
              </a:spcBef>
            </a:pPr>
            <a:r>
              <a:rPr lang="en-IN" sz="1800" dirty="0">
                <a:solidFill>
                  <a:schemeClr val="accent1">
                    <a:lumMod val="50000"/>
                  </a:schemeClr>
                </a:solidFill>
              </a:rPr>
              <a:t>K. Sushma(24B11DS082)</a:t>
            </a:r>
            <a:endParaRPr lang="en-IN" sz="1800" spc="-1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Data Science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0408" y="1191211"/>
            <a:ext cx="3770980" cy="54950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43400" y="325191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1F55BA-986F-654A-5E2D-6EB3BA46572D}"/>
              </a:ext>
            </a:extLst>
          </p:cNvPr>
          <p:cNvSpPr txBox="1"/>
          <p:nvPr/>
        </p:nvSpPr>
        <p:spPr>
          <a:xfrm>
            <a:off x="835071" y="1287758"/>
            <a:ext cx="8610600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Student Course Registration System (SCRS) is a Java-based application designed to manage student and course information efficiently within an institution.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functionalities such as adding, updating, searching, and viewing records, thereby reducing manual effort and errors.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SCRS aims to improve data accuracy, accessibility, and security by using a structured and centralized approach.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developed using core Java concepts and database connectivity for persistent data storage.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851B59-AD5A-81AD-7D42-C1CD5E589B58}"/>
              </a:ext>
            </a:extLst>
          </p:cNvPr>
          <p:cNvSpPr txBox="1"/>
          <p:nvPr/>
        </p:nvSpPr>
        <p:spPr>
          <a:xfrm>
            <a:off x="723900" y="1437175"/>
            <a:ext cx="8610600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any educational institution, maintaining course registration records is a critical and continuous task.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systems are time-consuming, error-prone, and difficult to manage as data grows.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Student Course Registration System simplifies student and course data handling and improves institutional efficiency.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developing a GUI-based Java application for effective course registration management.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17781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908912" y="1440429"/>
            <a:ext cx="85344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system allows adding new student details such as ID, name, and contact information. </a:t>
            </a: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provides functionality to update existing student records whenever required. </a:t>
            </a: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Authorized users can delete student information with proper confirmation. </a:t>
            </a: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system allows managing course details such as course ID, name, credits, and section information.</a:t>
            </a: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 It supports course registration by linking students with courses. </a:t>
            </a:r>
          </a:p>
          <a:p>
            <a:pPr marL="34290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system provides functionality to display all stored data and generate reports such as student subject registration count and section-wise registration count.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810000" y="342558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987471" y="1053128"/>
            <a:ext cx="8305800" cy="5871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above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20 GB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Devices: Keyboard, Mouse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Device: Monitor</a:t>
            </a:r>
          </a:p>
          <a:p>
            <a:pPr>
              <a:lnSpc>
                <a:spcPct val="150000"/>
              </a:lnSpc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Java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 Notepad, Command prompt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Oracle 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3C03A-992A-CEAD-5FB8-68652782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EA7C8F04-95CA-C1E0-BFA2-4BFACD89E6B8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989C992-155F-6A68-0B08-3B39FFBAA62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D031E1F9-FB82-922E-C796-97077F94E70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8EAA2CC3-9696-811E-B5BE-5C184817770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F65D09F8-C17C-F03E-88B8-4942A39F209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65154CDE-FB1D-92DB-77E9-9CDAB77B88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5E89CD20-90CB-480C-A4EB-EC7405BED44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DD3B24-C6E3-C570-0D11-D85BD4A44819}"/>
              </a:ext>
            </a:extLst>
          </p:cNvPr>
          <p:cNvSpPr txBox="1"/>
          <p:nvPr/>
        </p:nvSpPr>
        <p:spPr>
          <a:xfrm>
            <a:off x="457200" y="1516518"/>
            <a:ext cx="8532391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relational database to store student and course information efficiently.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three main tables: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Student Table , Course Table , Registration Table.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design helps in reducing data redundancy and improving data organization.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student is linked to courses using a registration table that implements a many-to-many relationship.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ensures data integrity using primary keys and constraints.</a:t>
            </a:r>
          </a:p>
        </p:txBody>
      </p:sp>
    </p:spTree>
    <p:extLst>
      <p:ext uri="{BB962C8B-B14F-4D97-AF65-F5344CB8AC3E}">
        <p14:creationId xmlns:p14="http://schemas.microsoft.com/office/powerpoint/2010/main" val="89182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40B4-B462-F22D-0950-B6710CF9E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4A9BBA5-9A38-1657-0653-14EC0D3B9CE4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6656BA03-D3A4-CDEA-202C-38C81F635B7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4C109C39-054A-E81F-70B9-386F94A44C3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1533A0EA-DA31-1EB6-ADF3-083AD01A4E8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E8E014C-4F7F-C10B-D153-7578A6AE564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E5ECF7B6-4D35-5116-1FBA-A710C58C5A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98FBF8DD-4922-6047-5E1A-EAFBB22DFB9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FE3A23-6F7A-9CD3-0012-E9E7C7331AAD}"/>
              </a:ext>
            </a:extLst>
          </p:cNvPr>
          <p:cNvSpPr txBox="1"/>
          <p:nvPr/>
        </p:nvSpPr>
        <p:spPr>
          <a:xfrm>
            <a:off x="290750" y="1353220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0D226A-4905-9A23-644C-CE3991C38936}"/>
              </a:ext>
            </a:extLst>
          </p:cNvPr>
          <p:cNvSpPr txBox="1"/>
          <p:nvPr/>
        </p:nvSpPr>
        <p:spPr>
          <a:xfrm>
            <a:off x="533400" y="2005523"/>
            <a:ext cx="83669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Table: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student details such as ID, name, and contact information.</a:t>
            </a:r>
          </a:p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4CAA23-FA45-9C11-5564-4AD480FF1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173920"/>
              </p:ext>
            </p:extLst>
          </p:nvPr>
        </p:nvGraphicFramePr>
        <p:xfrm>
          <a:off x="762000" y="3124200"/>
          <a:ext cx="8534400" cy="4223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128172907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71288855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95187028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4724025"/>
                    </a:ext>
                  </a:extLst>
                </a:gridCol>
              </a:tblGrid>
              <a:tr h="837625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effectLst/>
                        </a:rPr>
                        <a:t>Field Name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effectLst/>
                        </a:rPr>
                        <a:t>Data Type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chemeClr val="tx1"/>
                          </a:solidFill>
                          <a:effectLst/>
                        </a:rPr>
                        <a:t>Constraint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167849315"/>
                  </a:ext>
                </a:extLst>
              </a:tr>
              <a:tr h="837625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 err="1">
                          <a:solidFill>
                            <a:schemeClr val="tx1"/>
                          </a:solidFill>
                          <a:effectLst/>
                        </a:rPr>
                        <a:t>student_id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NUMBER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Student ID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Primary Key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349381555"/>
                  </a:ext>
                </a:extLst>
              </a:tr>
              <a:tr h="84926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VARCHAR2(50)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Student Name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Not Null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810712526"/>
                  </a:ext>
                </a:extLst>
              </a:tr>
              <a:tr h="84926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branch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VARCHAR2(50)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Branch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Not Null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313855592"/>
                  </a:ext>
                </a:extLst>
              </a:tr>
              <a:tr h="84926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section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VARCHAR2(10)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Section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Not Null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947226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870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AF869-60E9-7283-1E5C-031B97BB2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22CCC8F-8AC9-DA04-7DF6-792709DB8A61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D3CC7CDE-C0AA-8C40-F47A-6BB38775C79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251A7B03-12DB-BDB0-A823-3B5CC5C3EA9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4C3D95F-A98E-C662-A8CA-7C226092743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51ECD6EB-B411-BAC9-D612-83CAADD7C06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05340093-ADC0-C519-A46D-D43188C518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EC0178A3-A864-AC29-8239-3EE3EEC824D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CC2DB0-515C-5729-13F5-411810B0A1D6}"/>
              </a:ext>
            </a:extLst>
          </p:cNvPr>
          <p:cNvSpPr txBox="1"/>
          <p:nvPr/>
        </p:nvSpPr>
        <p:spPr>
          <a:xfrm>
            <a:off x="298166" y="1218944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EB3E5-F5F4-BFDA-2030-B081D8DD8B72}"/>
              </a:ext>
            </a:extLst>
          </p:cNvPr>
          <p:cNvSpPr txBox="1"/>
          <p:nvPr/>
        </p:nvSpPr>
        <p:spPr>
          <a:xfrm>
            <a:off x="609600" y="1986199"/>
            <a:ext cx="83669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Course Table: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Stores course details such as course ID, name, credits, and section information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815B2EF-649C-B60C-5F00-C31CEFFCF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66570"/>
              </p:ext>
            </p:extLst>
          </p:nvPr>
        </p:nvGraphicFramePr>
        <p:xfrm>
          <a:off x="838200" y="3276600"/>
          <a:ext cx="8229604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1">
                  <a:extLst>
                    <a:ext uri="{9D8B030D-6E8A-4147-A177-3AD203B41FA5}">
                      <a16:colId xmlns:a16="http://schemas.microsoft.com/office/drawing/2014/main" val="3209782589"/>
                    </a:ext>
                  </a:extLst>
                </a:gridCol>
                <a:gridCol w="2057401">
                  <a:extLst>
                    <a:ext uri="{9D8B030D-6E8A-4147-A177-3AD203B41FA5}">
                      <a16:colId xmlns:a16="http://schemas.microsoft.com/office/drawing/2014/main" val="4202595901"/>
                    </a:ext>
                  </a:extLst>
                </a:gridCol>
                <a:gridCol w="2057401">
                  <a:extLst>
                    <a:ext uri="{9D8B030D-6E8A-4147-A177-3AD203B41FA5}">
                      <a16:colId xmlns:a16="http://schemas.microsoft.com/office/drawing/2014/main" val="1135863359"/>
                    </a:ext>
                  </a:extLst>
                </a:gridCol>
                <a:gridCol w="2057401">
                  <a:extLst>
                    <a:ext uri="{9D8B030D-6E8A-4147-A177-3AD203B41FA5}">
                      <a16:colId xmlns:a16="http://schemas.microsoft.com/office/drawing/2014/main" val="3438995693"/>
                    </a:ext>
                  </a:extLst>
                </a:gridCol>
              </a:tblGrid>
              <a:tr h="85725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</a:rPr>
                        <a:t>Field Name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</a:rPr>
                        <a:t>Data Type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  <a:effectLst/>
                        </a:rPr>
                        <a:t>Constraint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560787308"/>
                  </a:ext>
                </a:extLst>
              </a:tr>
              <a:tr h="85725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 b="1" dirty="0" err="1">
                          <a:solidFill>
                            <a:schemeClr val="tx1"/>
                          </a:solidFill>
                          <a:effectLst/>
                        </a:rPr>
                        <a:t>course_id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NUMBER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Course ID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Primary Key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707719459"/>
                  </a:ext>
                </a:extLst>
              </a:tr>
              <a:tr h="85725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 b="1" dirty="0" err="1">
                          <a:solidFill>
                            <a:schemeClr val="tx1"/>
                          </a:solidFill>
                          <a:effectLst/>
                        </a:rPr>
                        <a:t>course_name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VARCHAR2(50)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Course Name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chemeClr val="tx1"/>
                          </a:solidFill>
                          <a:effectLst/>
                        </a:rPr>
                        <a:t>Not Null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81240831"/>
                  </a:ext>
                </a:extLst>
              </a:tr>
              <a:tr h="85725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  <a:effectLst/>
                        </a:rPr>
                        <a:t>credits</a:t>
                      </a:r>
                      <a:endParaRPr lang="en-IN" sz="20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NUMBER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Course Credits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</a:rPr>
                        <a:t>Not Null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572189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694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DDFE6-68D0-626B-CEA5-012AC4CE0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6AB6B8D9-907C-14D3-FE13-17C6E6CA5738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F2F8D3D4-7414-5BC2-228C-E9103C17FB7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960E6045-C32B-45CA-9E5F-2D8B9813510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841BB376-4DAB-084D-64E6-3760EA8F9DD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E4FAF633-2235-2851-C3E8-F177ABCCA2F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C3F3E476-DF9A-C6ED-BCF5-6782970F31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6F5A8444-086B-9125-6392-B400175A6B5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2C5A62-55CB-BE52-28C1-9826A4970DAA}"/>
              </a:ext>
            </a:extLst>
          </p:cNvPr>
          <p:cNvSpPr txBox="1"/>
          <p:nvPr/>
        </p:nvSpPr>
        <p:spPr>
          <a:xfrm>
            <a:off x="290750" y="1061834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5AECAB-ADA0-137A-8F14-77698E44A825}"/>
              </a:ext>
            </a:extLst>
          </p:cNvPr>
          <p:cNvSpPr txBox="1"/>
          <p:nvPr/>
        </p:nvSpPr>
        <p:spPr>
          <a:xfrm>
            <a:off x="533400" y="1676400"/>
            <a:ext cx="83669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Table: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registration details and links students with courses.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3DD5DCB-BB3C-BA13-A607-B7CE5378C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773041"/>
              </p:ext>
            </p:extLst>
          </p:nvPr>
        </p:nvGraphicFramePr>
        <p:xfrm>
          <a:off x="815544" y="2686208"/>
          <a:ext cx="8709456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364">
                  <a:extLst>
                    <a:ext uri="{9D8B030D-6E8A-4147-A177-3AD203B41FA5}">
                      <a16:colId xmlns:a16="http://schemas.microsoft.com/office/drawing/2014/main" val="1632968710"/>
                    </a:ext>
                  </a:extLst>
                </a:gridCol>
                <a:gridCol w="2177364">
                  <a:extLst>
                    <a:ext uri="{9D8B030D-6E8A-4147-A177-3AD203B41FA5}">
                      <a16:colId xmlns:a16="http://schemas.microsoft.com/office/drawing/2014/main" val="2911251608"/>
                    </a:ext>
                  </a:extLst>
                </a:gridCol>
                <a:gridCol w="2177364">
                  <a:extLst>
                    <a:ext uri="{9D8B030D-6E8A-4147-A177-3AD203B41FA5}">
                      <a16:colId xmlns:a16="http://schemas.microsoft.com/office/drawing/2014/main" val="1388760150"/>
                    </a:ext>
                  </a:extLst>
                </a:gridCol>
                <a:gridCol w="2177364">
                  <a:extLst>
                    <a:ext uri="{9D8B030D-6E8A-4147-A177-3AD203B41FA5}">
                      <a16:colId xmlns:a16="http://schemas.microsoft.com/office/drawing/2014/main" val="644790778"/>
                    </a:ext>
                  </a:extLst>
                </a:gridCol>
              </a:tblGrid>
              <a:tr h="459601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Field Name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Data Type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Constraint</a:t>
                      </a:r>
                      <a:endParaRPr lang="en-IN" sz="2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176252092"/>
                  </a:ext>
                </a:extLst>
              </a:tr>
              <a:tr h="459601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registration_id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NUMBER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Registration ID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Primary Key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647265488"/>
                  </a:ext>
                </a:extLst>
              </a:tr>
              <a:tr h="101112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Student_id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NUMBER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Student Reference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Foreign Key(Student Table)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05202454"/>
                  </a:ext>
                </a:extLst>
              </a:tr>
              <a:tr h="101112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Student_id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NUMBER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Course Reference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Foreign Key(Course Table)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870878550"/>
                  </a:ext>
                </a:extLst>
              </a:tr>
              <a:tr h="73536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Semester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NUMBER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Semester Number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Not Null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3870948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956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71227-37A8-BD2E-DA5F-9D1409CD539E}"/>
              </a:ext>
            </a:extLst>
          </p:cNvPr>
          <p:cNvSpPr txBox="1"/>
          <p:nvPr/>
        </p:nvSpPr>
        <p:spPr>
          <a:xfrm>
            <a:off x="872251" y="1037173"/>
            <a:ext cx="7924801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698EF3-6CC5-CB2B-B3DF-1F2230442C23}"/>
              </a:ext>
            </a:extLst>
          </p:cNvPr>
          <p:cNvSpPr txBox="1"/>
          <p:nvPr/>
        </p:nvSpPr>
        <p:spPr>
          <a:xfrm>
            <a:off x="1143000" y="1589604"/>
            <a:ext cx="8610599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User Login Module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provide a secure login interface where authorized users can enter credentials (username and password) to access the system. Proper validation and error messages shall be displayed for incorrect inputs.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Main Menu Module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display a main menu after successful login, allowing users to navigate to different modules such as student management, course management, registration, and reports.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Student Management Module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allow users to add, update, delete, and view student details including student ID, name, and contact information. Validation shall ensure correct data entry and maintain data accuracy.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8A60C-09AA-308F-4820-DDE73B89D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B84D7E-2B51-539E-B908-6CEB38BDE819}"/>
              </a:ext>
            </a:extLst>
          </p:cNvPr>
          <p:cNvSpPr txBox="1"/>
          <p:nvPr/>
        </p:nvSpPr>
        <p:spPr>
          <a:xfrm>
            <a:off x="890666" y="856614"/>
            <a:ext cx="7924801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CC2A368-18E2-5135-E37C-E1976E288814}"/>
              </a:ext>
            </a:extLst>
          </p:cNvPr>
          <p:cNvGrpSpPr/>
          <p:nvPr/>
        </p:nvGrpSpPr>
        <p:grpSpPr>
          <a:xfrm>
            <a:off x="2590800" y="204311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84673E9D-D104-EF07-3A35-6E3497B5241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1024C34C-FA0B-AF27-8435-F98B9C6E0CC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A2D5B6B-CEC3-AFEB-AB68-594B1D12570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9630950-3DFA-1BE4-C8C9-C36FE2C273E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959CBF33-0F4B-F57B-C9A3-9EC1C12CA9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5B86F8EA-9C60-7109-E1A9-69ECAA29173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1F3123-B27E-EB99-7647-D3EE4818586A}"/>
              </a:ext>
            </a:extLst>
          </p:cNvPr>
          <p:cNvSpPr txBox="1"/>
          <p:nvPr/>
        </p:nvSpPr>
        <p:spPr>
          <a:xfrm>
            <a:off x="867171" y="1469626"/>
            <a:ext cx="8610599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Course Management Module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enable management of course details such as course ID, course name, credits, and section information. Users shall be able to add, modify, delete, and display course records.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Course Registration Module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allow students to be registered for courses. It shall maintain proper relationships between students and courses and ensure valid registration without duplication.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Display Records Module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display all stored data such as student details, course details, and registration information in a structured and readable format for easy understanding.</a:t>
            </a:r>
          </a:p>
          <a:p>
            <a:pPr>
              <a:lnSpc>
                <a:spcPct val="150000"/>
              </a:lnSpc>
            </a:pP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590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71627-858D-0D33-80EF-BAC8522CA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452D70-B21B-FCC0-2A66-0E3660915648}"/>
              </a:ext>
            </a:extLst>
          </p:cNvPr>
          <p:cNvSpPr txBox="1"/>
          <p:nvPr/>
        </p:nvSpPr>
        <p:spPr>
          <a:xfrm>
            <a:off x="887491" y="1216155"/>
            <a:ext cx="7924801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03EEADD0-FD43-CC88-35B0-BA2E6FE56D6B}"/>
              </a:ext>
            </a:extLst>
          </p:cNvPr>
          <p:cNvGrpSpPr/>
          <p:nvPr/>
        </p:nvGrpSpPr>
        <p:grpSpPr>
          <a:xfrm>
            <a:off x="2590800" y="204311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1A02DD1C-9661-83DC-824A-D6508136A70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ECA55CEC-AC67-14D8-F761-DC6644622AB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8C3209BA-4BB5-7D5A-E932-D5A1F7CEFA4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3290F8C9-4F7D-AE55-100C-40F3ACFA424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0A87F167-D8F0-ACC9-880E-DB01DBFAC9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2F397D71-2F08-852F-E09B-9C3E4F8600B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4914EA-8AFB-893B-C076-3E2362B25EA3}"/>
              </a:ext>
            </a:extLst>
          </p:cNvPr>
          <p:cNvSpPr txBox="1"/>
          <p:nvPr/>
        </p:nvSpPr>
        <p:spPr>
          <a:xfrm>
            <a:off x="837452" y="1858524"/>
            <a:ext cx="8610599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Student Subject Registration Count Module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provide functionality to display the number of courses registered by each student, helping in tracking student workload effectively.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Section Registration Count Module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display the number of students registered in each course section, assisting in managing class capacity and planning.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Database Module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shall handle all database operations such as storing, retrieving, updating, and deleting data using JDBC, ensuring secure and efficient data management.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514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7A6E-C969-4FC6-1638-B02DC985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18CD80CE-9A20-C3F9-675C-6A5559C46A59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4EE6F78B-EB8B-E507-510F-5E3E95B98B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60BFA710-1140-7847-52D3-8D6778096E5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49D1D7BE-6FAB-E379-94E6-040D6A76585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2191A9B2-D3E3-35FE-4108-715E3C7C4C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00A15CDC-61F7-A7B4-E469-6B0C11999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4" y="432593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C4C71D08-C2F1-0E7E-1D5D-669DEF4FBD1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B09BF8-939E-6C76-4342-E04259FF568B}"/>
              </a:ext>
            </a:extLst>
          </p:cNvPr>
          <p:cNvSpPr txBox="1"/>
          <p:nvPr/>
        </p:nvSpPr>
        <p:spPr>
          <a:xfrm>
            <a:off x="990600" y="1449777"/>
            <a:ext cx="8763000" cy="1552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Login window: </a:t>
            </a: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b="1" u="none" strike="noStrike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window allows authorized users to enter their username and password to access the Student Course Registration System.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175A0-421F-5BB2-4D58-030F44CBBA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953"/>
          <a:stretch>
            <a:fillRect/>
          </a:stretch>
        </p:blipFill>
        <p:spPr>
          <a:xfrm>
            <a:off x="1903505" y="2982446"/>
            <a:ext cx="5791199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269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882AF-3F85-D02B-B167-92BB06FA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51F8D081-5351-6A34-F61D-4BFC9E697C5D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5B86A6D7-44C7-3F2E-0E87-B0BE38F5E60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00CAD93E-47B3-5F1C-50C3-CCFC6FA0C34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D61A56A4-0FD7-4B40-8D6B-4C66C95E7C9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CA7F524B-FE9E-1FF8-1621-5EDB9B2A9EB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CFAF95C4-DE06-BB07-8BE1-1C14ACA3AC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4479" y="411877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C43AD385-1BD8-C19B-6526-BBB862770E8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DE39BD-B38D-F038-C3C2-37F3F226C77D}"/>
              </a:ext>
            </a:extLst>
          </p:cNvPr>
          <p:cNvSpPr txBox="1"/>
          <p:nvPr/>
        </p:nvSpPr>
        <p:spPr>
          <a:xfrm>
            <a:off x="990600" y="1449777"/>
            <a:ext cx="8763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Window: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window provides navigation options to perform different operations such as adding, updating, deleting, searching, and viewing records.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DC9DF22-FC81-B5B8-8FB1-AC59AD01CD65}"/>
              </a:ext>
            </a:extLst>
          </p:cNvPr>
          <p:cNvGrpSpPr/>
          <p:nvPr/>
        </p:nvGrpSpPr>
        <p:grpSpPr>
          <a:xfrm>
            <a:off x="990600" y="2971799"/>
            <a:ext cx="8305800" cy="3944259"/>
            <a:chOff x="0" y="0"/>
            <a:chExt cx="5357242" cy="30026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F9E834-BF20-7C8D-570E-D141D4B540BB}"/>
                </a:ext>
              </a:extLst>
            </p:cNvPr>
            <p:cNvSpPr/>
            <p:nvPr/>
          </p:nvSpPr>
          <p:spPr>
            <a:xfrm>
              <a:off x="457708" y="0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628FE9-996A-44E2-E64F-4AC4D60BDC73}"/>
                </a:ext>
              </a:extLst>
            </p:cNvPr>
            <p:cNvSpPr/>
            <p:nvPr/>
          </p:nvSpPr>
          <p:spPr>
            <a:xfrm>
              <a:off x="495808" y="0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C5887B3-66B2-7509-BAA3-FA11C7874D0E}"/>
                </a:ext>
              </a:extLst>
            </p:cNvPr>
            <p:cNvSpPr/>
            <p:nvPr/>
          </p:nvSpPr>
          <p:spPr>
            <a:xfrm>
              <a:off x="625348" y="2818257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4C7FA57-2992-8F5E-A1ED-572321BB381A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261102" y="2439547"/>
              <a:ext cx="76200" cy="201168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0A3EE02-15DE-36C8-278E-1600DC9BE62A}"/>
                </a:ext>
              </a:extLst>
            </p:cNvPr>
            <p:cNvSpPr/>
            <p:nvPr/>
          </p:nvSpPr>
          <p:spPr>
            <a:xfrm>
              <a:off x="5262372" y="2458918"/>
              <a:ext cx="59288" cy="2157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4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2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C3EE0EF-7E10-59FE-F76D-C0AB4889BC5C}"/>
                </a:ext>
              </a:extLst>
            </p:cNvPr>
            <p:cNvSpPr/>
            <p:nvPr/>
          </p:nvSpPr>
          <p:spPr>
            <a:xfrm>
              <a:off x="5306569" y="2476881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8" name="Shape 29268">
              <a:extLst>
                <a:ext uri="{FF2B5EF4-FFF2-40B4-BE49-F238E27FC236}">
                  <a16:creationId xmlns:a16="http://schemas.microsoft.com/office/drawing/2014/main" id="{31449C9B-055E-C8D5-C157-13D877AA1E92}"/>
                </a:ext>
              </a:extLst>
            </p:cNvPr>
            <p:cNvSpPr/>
            <p:nvPr/>
          </p:nvSpPr>
          <p:spPr>
            <a:xfrm>
              <a:off x="1016" y="2573151"/>
              <a:ext cx="5259832" cy="9144"/>
            </a:xfrm>
            <a:custGeom>
              <a:avLst/>
              <a:gdLst/>
              <a:ahLst/>
              <a:cxnLst/>
              <a:rect l="0" t="0" r="0" b="0"/>
              <a:pathLst>
                <a:path w="5259832" h="9144">
                  <a:moveTo>
                    <a:pt x="0" y="0"/>
                  </a:moveTo>
                  <a:lnTo>
                    <a:pt x="5259832" y="0"/>
                  </a:lnTo>
                  <a:lnTo>
                    <a:pt x="5259832" y="9144"/>
                  </a:lnTo>
                  <a:lnTo>
                    <a:pt x="0" y="9144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0745F52-FA06-A00C-76C5-4CCF912D5E85}"/>
                </a:ext>
              </a:extLst>
            </p:cNvPr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0" y="152150"/>
              <a:ext cx="5251450" cy="24013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2483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A61D0-099F-C774-0062-C8956AD10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C44C1A33-7C14-0DEB-3965-284AF49FCF96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5AD8913-F996-8CEC-7934-417EC50677A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4C01121-5342-6ED4-E848-5F0A26A4F29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E76C04D3-36A1-A3D8-4753-54D754D0682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DEDA527A-944E-DD9F-9390-C3FE8A62152A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E1E0144C-CD6A-71E3-CB87-9E558AD5FF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4479" y="450118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63F76BCB-14FA-BBEA-1CDB-64C0E4637DB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08911D-DB8D-864A-A56A-021103D1465A}"/>
              </a:ext>
            </a:extLst>
          </p:cNvPr>
          <p:cNvSpPr txBox="1"/>
          <p:nvPr/>
        </p:nvSpPr>
        <p:spPr>
          <a:xfrm>
            <a:off x="990600" y="1449777"/>
            <a:ext cx="8763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Management Window: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window allows the user to add, update, delete, and view student details stored in the database.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2D23C7-2B89-C225-AFCA-4E7EB5F6E45E}"/>
              </a:ext>
            </a:extLst>
          </p:cNvPr>
          <p:cNvGrpSpPr/>
          <p:nvPr/>
        </p:nvGrpSpPr>
        <p:grpSpPr>
          <a:xfrm>
            <a:off x="846851" y="3124200"/>
            <a:ext cx="8144749" cy="3516600"/>
            <a:chOff x="0" y="0"/>
            <a:chExt cx="5364861" cy="300264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F26DB6B-0563-F7BB-D070-C2F05AE6F1D6}"/>
                </a:ext>
              </a:extLst>
            </p:cNvPr>
            <p:cNvSpPr/>
            <p:nvPr/>
          </p:nvSpPr>
          <p:spPr>
            <a:xfrm>
              <a:off x="457708" y="34871"/>
              <a:ext cx="33951" cy="12353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8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2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41834B-AA4A-5A91-50B7-24BE6CC4FE56}"/>
                </a:ext>
              </a:extLst>
            </p:cNvPr>
            <p:cNvSpPr/>
            <p:nvPr/>
          </p:nvSpPr>
          <p:spPr>
            <a:xfrm>
              <a:off x="483616" y="0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BD6CABA-8300-37A4-D745-0F3E9490E803}"/>
                </a:ext>
              </a:extLst>
            </p:cNvPr>
            <p:cNvSpPr/>
            <p:nvPr/>
          </p:nvSpPr>
          <p:spPr>
            <a:xfrm>
              <a:off x="340360" y="2818258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5CB440A-0E1F-0B13-A9B1-770D22068B78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268722" y="2566674"/>
              <a:ext cx="67056" cy="18135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9C0C26B-2059-85E9-C3D6-0A5E563DC1E8}"/>
                </a:ext>
              </a:extLst>
            </p:cNvPr>
            <p:cNvSpPr/>
            <p:nvPr/>
          </p:nvSpPr>
          <p:spPr>
            <a:xfrm>
              <a:off x="5269993" y="2585411"/>
              <a:ext cx="59288" cy="2157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4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2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E091D7A-E26D-E490-0330-0BAC0747DACF}"/>
                </a:ext>
              </a:extLst>
            </p:cNvPr>
            <p:cNvSpPr/>
            <p:nvPr/>
          </p:nvSpPr>
          <p:spPr>
            <a:xfrm>
              <a:off x="5314188" y="2603374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8" name="Shape 29270">
              <a:extLst>
                <a:ext uri="{FF2B5EF4-FFF2-40B4-BE49-F238E27FC236}">
                  <a16:creationId xmlns:a16="http://schemas.microsoft.com/office/drawing/2014/main" id="{00883C9D-AD4F-A8F8-87E4-43A2A88D5C65}"/>
                </a:ext>
              </a:extLst>
            </p:cNvPr>
            <p:cNvSpPr/>
            <p:nvPr/>
          </p:nvSpPr>
          <p:spPr>
            <a:xfrm>
              <a:off x="0" y="2687070"/>
              <a:ext cx="5267834" cy="9144"/>
            </a:xfrm>
            <a:custGeom>
              <a:avLst/>
              <a:gdLst/>
              <a:ahLst/>
              <a:cxnLst/>
              <a:rect l="0" t="0" r="0" b="0"/>
              <a:pathLst>
                <a:path w="5267834" h="9144">
                  <a:moveTo>
                    <a:pt x="0" y="0"/>
                  </a:moveTo>
                  <a:lnTo>
                    <a:pt x="5267834" y="0"/>
                  </a:lnTo>
                  <a:lnTo>
                    <a:pt x="5267834" y="9144"/>
                  </a:lnTo>
                  <a:lnTo>
                    <a:pt x="0" y="9144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CEE0E85-A865-6B8E-E819-CEFC976CC220}"/>
                </a:ext>
              </a:extLst>
            </p:cNvPr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0" y="150245"/>
              <a:ext cx="5260468" cy="25190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963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FAADD-4D19-CE1A-A0AE-6EEF3536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7B9191B-FE96-8A59-9690-2C061E758CB3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20D78732-F9B9-1FDA-D8E5-B64B1742716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0F82D761-8FA6-96D2-9CDC-DFD4213896D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678599C3-BD7C-742E-28E2-F7E1A4CB43D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9F6FA399-08A4-A0BD-F528-C5D21B7052B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8F364F5D-D793-1E9D-BAE2-D5AEB2FAA6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6200" y="416480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3FA4B9F1-F58E-6088-7BFB-C923676C0FF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DFF7E8-2D7E-EE44-718C-EFE70C9A2E40}"/>
              </a:ext>
            </a:extLst>
          </p:cNvPr>
          <p:cNvSpPr txBox="1"/>
          <p:nvPr/>
        </p:nvSpPr>
        <p:spPr>
          <a:xfrm>
            <a:off x="990600" y="1449777"/>
            <a:ext cx="8763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Management Window: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window enables the user to add, update, delete, and view course details.</a:t>
            </a:r>
          </a:p>
          <a:p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BE0A33-83BD-0F12-89C9-37C9D4F98DC5}"/>
              </a:ext>
            </a:extLst>
          </p:cNvPr>
          <p:cNvGrpSpPr/>
          <p:nvPr/>
        </p:nvGrpSpPr>
        <p:grpSpPr>
          <a:xfrm>
            <a:off x="949371" y="2438400"/>
            <a:ext cx="8229600" cy="3946706"/>
            <a:chOff x="0" y="0"/>
            <a:chExt cx="5364607" cy="261863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FE415CB-B500-BF58-1F58-39C3EA04DA30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56388" cy="17678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661CDF-C200-79F4-BC88-46CB5D4DCF72}"/>
                </a:ext>
              </a:extLst>
            </p:cNvPr>
            <p:cNvSpPr/>
            <p:nvPr/>
          </p:nvSpPr>
          <p:spPr>
            <a:xfrm>
              <a:off x="254" y="36953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F46E7CD-492D-A1DA-A3AE-7D92EC11BA06}"/>
                </a:ext>
              </a:extLst>
            </p:cNvPr>
            <p:cNvSpPr/>
            <p:nvPr/>
          </p:nvSpPr>
          <p:spPr>
            <a:xfrm>
              <a:off x="38354" y="36953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EDDBBEF-C867-00CA-2132-F974E80BB98D}"/>
                </a:ext>
              </a:extLst>
            </p:cNvPr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5268468" y="2383536"/>
              <a:ext cx="67056" cy="20574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13F565F-39E3-56DE-30AD-27C30EBD2BE6}"/>
                </a:ext>
              </a:extLst>
            </p:cNvPr>
            <p:cNvSpPr/>
            <p:nvPr/>
          </p:nvSpPr>
          <p:spPr>
            <a:xfrm>
              <a:off x="5269738" y="2402907"/>
              <a:ext cx="59288" cy="2157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4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2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2EBF9E8-90DD-F05A-A6B4-CF0F476C2624}"/>
                </a:ext>
              </a:extLst>
            </p:cNvPr>
            <p:cNvSpPr/>
            <p:nvPr/>
          </p:nvSpPr>
          <p:spPr>
            <a:xfrm>
              <a:off x="5313934" y="2420871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8" name="Shape 29272">
              <a:extLst>
                <a:ext uri="{FF2B5EF4-FFF2-40B4-BE49-F238E27FC236}">
                  <a16:creationId xmlns:a16="http://schemas.microsoft.com/office/drawing/2014/main" id="{9EFCA201-8A8F-9774-44D4-26EDC9D1488F}"/>
                </a:ext>
              </a:extLst>
            </p:cNvPr>
            <p:cNvSpPr/>
            <p:nvPr/>
          </p:nvSpPr>
          <p:spPr>
            <a:xfrm>
              <a:off x="28448" y="2520189"/>
              <a:ext cx="5240528" cy="9144"/>
            </a:xfrm>
            <a:custGeom>
              <a:avLst/>
              <a:gdLst/>
              <a:ahLst/>
              <a:cxnLst/>
              <a:rect l="0" t="0" r="0" b="0"/>
              <a:pathLst>
                <a:path w="5240528" h="9144">
                  <a:moveTo>
                    <a:pt x="0" y="0"/>
                  </a:moveTo>
                  <a:lnTo>
                    <a:pt x="5240528" y="0"/>
                  </a:lnTo>
                  <a:lnTo>
                    <a:pt x="5240528" y="9144"/>
                  </a:lnTo>
                  <a:lnTo>
                    <a:pt x="0" y="9144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502F561-CC75-43D4-2AF1-B81230ED1C8F}"/>
                </a:ext>
              </a:extLst>
            </p:cNvPr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28067" y="159258"/>
              <a:ext cx="5239512" cy="23409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9249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F6D61-638A-7BF4-45A5-B825EFB51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B76C9285-D11F-C478-43C5-BEC883025D4E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911F65BB-D9C7-B3E4-EA4A-3DE2C184D6A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4115DA95-664D-A2D5-D4DE-C5A84414003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4F832F06-1D0E-A0E7-C3EE-1B00C429B7C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B19BD7E-48A3-DCCA-434D-F52B474E6D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5D905971-D750-0914-F1D2-9EECA52251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6200" y="416480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522333F6-EC0F-C259-21EB-4F2D869981B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16E47F-79A8-0F92-9EA9-DEC17DC6EADF}"/>
              </a:ext>
            </a:extLst>
          </p:cNvPr>
          <p:cNvSpPr txBox="1"/>
          <p:nvPr/>
        </p:nvSpPr>
        <p:spPr>
          <a:xfrm>
            <a:off x="990600" y="1449777"/>
            <a:ext cx="8763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Registration Window: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window allows the user to register students into courses and maintain proper relationships between them.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6894A0-B1EC-FC8B-A55C-4B10D48F6E67}"/>
              </a:ext>
            </a:extLst>
          </p:cNvPr>
          <p:cNvGrpSpPr/>
          <p:nvPr/>
        </p:nvGrpSpPr>
        <p:grpSpPr>
          <a:xfrm>
            <a:off x="990601" y="2819400"/>
            <a:ext cx="8382000" cy="3969370"/>
            <a:chOff x="0" y="0"/>
            <a:chExt cx="5364861" cy="317789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1C5F3B3-4A11-27C6-4CE1-69EB12268ABE}"/>
                </a:ext>
              </a:extLst>
            </p:cNvPr>
            <p:cNvSpPr/>
            <p:nvPr/>
          </p:nvSpPr>
          <p:spPr>
            <a:xfrm>
              <a:off x="267208" y="44380"/>
              <a:ext cx="29390" cy="10694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7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2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6F1DEB-BD8F-F294-EA09-E417246EDE89}"/>
                </a:ext>
              </a:extLst>
            </p:cNvPr>
            <p:cNvSpPr/>
            <p:nvPr/>
          </p:nvSpPr>
          <p:spPr>
            <a:xfrm>
              <a:off x="290068" y="0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C72031F-6245-6CA3-261F-14A58EAA9EEC}"/>
                </a:ext>
              </a:extLst>
            </p:cNvPr>
            <p:cNvSpPr/>
            <p:nvPr/>
          </p:nvSpPr>
          <p:spPr>
            <a:xfrm>
              <a:off x="311404" y="2993517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6A284B0-F1CD-CB36-806A-2B378336E6D9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268722" y="2607822"/>
              <a:ext cx="67056" cy="225552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53EA453-2C85-DA3A-4EE1-E8FC253C6DDA}"/>
                </a:ext>
              </a:extLst>
            </p:cNvPr>
            <p:cNvSpPr/>
            <p:nvPr/>
          </p:nvSpPr>
          <p:spPr>
            <a:xfrm>
              <a:off x="5269993" y="2626558"/>
              <a:ext cx="59288" cy="21572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4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2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CDD739A-EE67-CF8E-75CA-55D8FB0398F4}"/>
                </a:ext>
              </a:extLst>
            </p:cNvPr>
            <p:cNvSpPr/>
            <p:nvPr/>
          </p:nvSpPr>
          <p:spPr>
            <a:xfrm>
              <a:off x="5314188" y="2644522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6" name="Shape 29274">
              <a:extLst>
                <a:ext uri="{FF2B5EF4-FFF2-40B4-BE49-F238E27FC236}">
                  <a16:creationId xmlns:a16="http://schemas.microsoft.com/office/drawing/2014/main" id="{A1AD46C7-793F-8284-ED2B-E81E3B2351B2}"/>
                </a:ext>
              </a:extLst>
            </p:cNvPr>
            <p:cNvSpPr/>
            <p:nvPr/>
          </p:nvSpPr>
          <p:spPr>
            <a:xfrm>
              <a:off x="0" y="2757682"/>
              <a:ext cx="5268469" cy="9525"/>
            </a:xfrm>
            <a:custGeom>
              <a:avLst/>
              <a:gdLst/>
              <a:ahLst/>
              <a:cxnLst/>
              <a:rect l="0" t="0" r="0" b="0"/>
              <a:pathLst>
                <a:path w="5268469" h="9525">
                  <a:moveTo>
                    <a:pt x="0" y="0"/>
                  </a:moveTo>
                  <a:lnTo>
                    <a:pt x="5268469" y="0"/>
                  </a:lnTo>
                  <a:lnTo>
                    <a:pt x="5268469" y="9525"/>
                  </a:lnTo>
                  <a:lnTo>
                    <a:pt x="0" y="952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4FF5FE58-4654-C0C6-C361-DFC55DD4CDBD}"/>
                </a:ext>
              </a:extLst>
            </p:cNvPr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381" y="148213"/>
              <a:ext cx="5267452" cy="25864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1279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8AB9A-5BE5-674E-EC10-8E855A9D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F521CA3-EB10-B38E-7E7E-71AC4E8BB397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9442332D-186E-E5CA-BC61-A322CEA266B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1C71AF4-7A3C-D59D-D5ED-C1AAEBA8911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58EA9610-2B01-B181-5D6E-998A6C0739F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B99654E-73D6-8E0D-08D5-85D5C144636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0BE02CC2-B7C3-AB18-FE82-A8872C358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6200" y="416480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7784C8A2-D701-6574-F02E-C6279691D90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417E6F-5ED2-E35D-AEF9-4449690192ED}"/>
              </a:ext>
            </a:extLst>
          </p:cNvPr>
          <p:cNvSpPr txBox="1"/>
          <p:nvPr/>
        </p:nvSpPr>
        <p:spPr>
          <a:xfrm>
            <a:off x="990600" y="1449777"/>
            <a:ext cx="8763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Subject Registration Count Screen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the number of courses registered by each student.  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D0043B-C544-0174-D9D3-113F7605E942}"/>
              </a:ext>
            </a:extLst>
          </p:cNvPr>
          <p:cNvGrpSpPr/>
          <p:nvPr/>
        </p:nvGrpSpPr>
        <p:grpSpPr>
          <a:xfrm>
            <a:off x="990600" y="2796652"/>
            <a:ext cx="8458200" cy="3634733"/>
            <a:chOff x="0" y="0"/>
            <a:chExt cx="5363337" cy="30026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06397D-B800-106D-566A-E57EED18070E}"/>
                </a:ext>
              </a:extLst>
            </p:cNvPr>
            <p:cNvSpPr/>
            <p:nvPr/>
          </p:nvSpPr>
          <p:spPr>
            <a:xfrm>
              <a:off x="267208" y="0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7CF015A-7096-523B-5A01-F7E428DD7007}"/>
                </a:ext>
              </a:extLst>
            </p:cNvPr>
            <p:cNvSpPr/>
            <p:nvPr/>
          </p:nvSpPr>
          <p:spPr>
            <a:xfrm>
              <a:off x="305308" y="0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452F80E-E6C9-1AEC-66D9-FCE65DD3B52A}"/>
                </a:ext>
              </a:extLst>
            </p:cNvPr>
            <p:cNvSpPr/>
            <p:nvPr/>
          </p:nvSpPr>
          <p:spPr>
            <a:xfrm>
              <a:off x="358648" y="2818257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87ECBEF-70F7-2760-8ABD-880E1A6DF5F7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267198" y="2466979"/>
              <a:ext cx="68580" cy="297180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9DF0C23-F9AD-2460-6394-7AC1E628E295}"/>
                </a:ext>
              </a:extLst>
            </p:cNvPr>
            <p:cNvSpPr/>
            <p:nvPr/>
          </p:nvSpPr>
          <p:spPr>
            <a:xfrm>
              <a:off x="5268469" y="2486349"/>
              <a:ext cx="59288" cy="21572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4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2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BCE8D32-3D76-7204-48BF-9CD7C25EDE5D}"/>
                </a:ext>
              </a:extLst>
            </p:cNvPr>
            <p:cNvSpPr/>
            <p:nvPr/>
          </p:nvSpPr>
          <p:spPr>
            <a:xfrm>
              <a:off x="5312664" y="2504313"/>
              <a:ext cx="50673" cy="1843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350" indent="-63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20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6" name="Shape 29276">
              <a:extLst>
                <a:ext uri="{FF2B5EF4-FFF2-40B4-BE49-F238E27FC236}">
                  <a16:creationId xmlns:a16="http://schemas.microsoft.com/office/drawing/2014/main" id="{C4D818D8-95BF-122C-3F3D-6E4337F303C6}"/>
                </a:ext>
              </a:extLst>
            </p:cNvPr>
            <p:cNvSpPr/>
            <p:nvPr/>
          </p:nvSpPr>
          <p:spPr>
            <a:xfrm>
              <a:off x="889" y="2665226"/>
              <a:ext cx="5266563" cy="12573"/>
            </a:xfrm>
            <a:custGeom>
              <a:avLst/>
              <a:gdLst/>
              <a:ahLst/>
              <a:cxnLst/>
              <a:rect l="0" t="0" r="0" b="0"/>
              <a:pathLst>
                <a:path w="5266563" h="12573">
                  <a:moveTo>
                    <a:pt x="0" y="0"/>
                  </a:moveTo>
                  <a:lnTo>
                    <a:pt x="5266563" y="0"/>
                  </a:lnTo>
                  <a:lnTo>
                    <a:pt x="5266563" y="12573"/>
                  </a:lnTo>
                  <a:lnTo>
                    <a:pt x="0" y="12573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6BFCB93-F7DE-F77B-3AA3-A74341F97645}"/>
                </a:ext>
              </a:extLst>
            </p:cNvPr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0" y="153547"/>
              <a:ext cx="5255514" cy="2480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0843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947A1-564B-7DD3-1CBA-9611DA31B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12608D8B-F074-0BB8-963A-365BD1102DFB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FEABF951-DA07-9FFD-68FF-AB5A9958CA7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269168EE-F9C7-F573-E9D8-A4F8D9F4D0C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A65ABE3D-8A65-145D-06EE-4346F7C7304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453D7674-EA97-B500-1234-949BB038FD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EDE89682-EAB8-5021-E073-59518EE30B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6200" y="416480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6B8BC357-9FAD-E8DF-E8D3-88E18ED78B5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0C2329-0618-E7A4-27B9-F5CE9304A2CE}"/>
              </a:ext>
            </a:extLst>
          </p:cNvPr>
          <p:cNvSpPr txBox="1"/>
          <p:nvPr/>
        </p:nvSpPr>
        <p:spPr>
          <a:xfrm>
            <a:off x="990600" y="1449777"/>
            <a:ext cx="8763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 Registration Count Screen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the number of students in each section registered for particular course.  </a:t>
            </a:r>
          </a:p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1DC7F9-F857-F625-A2B9-704E0D5483CC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990600" y="2768227"/>
            <a:ext cx="8229600" cy="360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39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6B15-FBBA-88E4-439B-3760D86B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93131E-D2BB-EC5C-2A95-924FDF20D02E}"/>
              </a:ext>
            </a:extLst>
          </p:cNvPr>
          <p:cNvSpPr txBox="1"/>
          <p:nvPr/>
        </p:nvSpPr>
        <p:spPr>
          <a:xfrm>
            <a:off x="381000" y="1788190"/>
            <a:ext cx="9448800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Web-based Application</a:t>
            </a:r>
            <a:r>
              <a:rPr lang="en-US" dirty="0">
                <a:solidFill>
                  <a:schemeClr val="tx1"/>
                </a:solidFill>
              </a:rPr>
              <a:t> – The system can be converted into a web-based platform for easy access through browsers.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Student Login Portal</a:t>
            </a:r>
            <a:r>
              <a:rPr lang="en-US" dirty="0">
                <a:solidFill>
                  <a:schemeClr val="tx1"/>
                </a:solidFill>
              </a:rPr>
              <a:t> – A secure login portal can be provided for students to manage their course registrations.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Faculty Approval System</a:t>
            </a:r>
            <a:r>
              <a:rPr lang="en-US" dirty="0">
                <a:solidFill>
                  <a:schemeClr val="tx1"/>
                </a:solidFill>
              </a:rPr>
              <a:t> – Faculty members can be given access to review and approve student registrations.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Online Course Registration</a:t>
            </a:r>
            <a:r>
              <a:rPr lang="en-US" dirty="0">
                <a:solidFill>
                  <a:schemeClr val="tx1"/>
                </a:solidFill>
              </a:rPr>
              <a:t> – Students can register for courses online without any manual process.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Cloud Database Integration</a:t>
            </a:r>
            <a:r>
              <a:rPr lang="en-US" dirty="0">
                <a:solidFill>
                  <a:schemeClr val="tx1"/>
                </a:solidFill>
              </a:rPr>
              <a:t> – A cloud database can be used for secure, scalable, and reliable data storage.</a:t>
            </a:r>
            <a:endParaRPr lang="en-US" dirty="0">
              <a:solidFill>
                <a:schemeClr val="tx1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AA4C980-B3A7-207C-41C1-E5E20AC1774F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FCE0C84F-6254-D24F-D561-30DE987BE35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7909B96B-5C39-8043-CA2D-5B828EFA757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5015D36-BC2F-3B81-753E-F473E84B785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2E63626-00F9-C9BD-F925-C51513AE50E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D4D54D4E-EE1A-E311-1FB3-DF54075DF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49027" y="438046"/>
            <a:ext cx="27603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987431-337A-DB3D-5560-70B732DBEDE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89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02E41-7E6E-9AB7-4311-D58503EE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376381-AD7A-228D-6305-1256490B7F5E}"/>
              </a:ext>
            </a:extLst>
          </p:cNvPr>
          <p:cNvSpPr txBox="1"/>
          <p:nvPr/>
        </p:nvSpPr>
        <p:spPr>
          <a:xfrm>
            <a:off x="457200" y="1507821"/>
            <a:ext cx="9448800" cy="5218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The following references were used during the development of the Student Course Registration System:  </a:t>
            </a:r>
          </a:p>
          <a:p>
            <a:pPr marL="285750" lvl="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Y. Daniel Liang, </a:t>
            </a:r>
            <a:r>
              <a:rPr lang="en-IN" i="1" dirty="0">
                <a:solidFill>
                  <a:schemeClr val="tx1"/>
                </a:solidFill>
              </a:rPr>
              <a:t>Introduction to Java Programming and Data Structures</a:t>
            </a:r>
            <a:r>
              <a:rPr lang="en-IN" dirty="0">
                <a:solidFill>
                  <a:schemeClr val="tx1"/>
                </a:solidFill>
              </a:rPr>
              <a:t>, 12th Edition,       Pearson Education, 2020.  </a:t>
            </a:r>
          </a:p>
          <a:p>
            <a:pPr marL="285750" lvl="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Paul J. Deitel and Harvey Deitel, </a:t>
            </a:r>
            <a:r>
              <a:rPr lang="en-IN" i="1" dirty="0">
                <a:solidFill>
                  <a:schemeClr val="tx1"/>
                </a:solidFill>
              </a:rPr>
              <a:t>Java</a:t>
            </a:r>
            <a:r>
              <a:rPr lang="en-IN" b="1" i="1" dirty="0">
                <a:solidFill>
                  <a:schemeClr val="tx1"/>
                </a:solidFill>
              </a:rPr>
              <a:t>: </a:t>
            </a:r>
            <a:r>
              <a:rPr lang="en-IN" i="1" dirty="0">
                <a:solidFill>
                  <a:schemeClr val="tx1"/>
                </a:solidFill>
              </a:rPr>
              <a:t>How to Program</a:t>
            </a:r>
            <a:r>
              <a:rPr lang="en-IN" dirty="0">
                <a:solidFill>
                  <a:schemeClr val="tx1"/>
                </a:solidFill>
              </a:rPr>
              <a:t>, 11th Edition,   Pearson, 2018. </a:t>
            </a:r>
          </a:p>
          <a:p>
            <a:pPr marL="285750" lvl="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Oracle Documentation</a:t>
            </a:r>
            <a:r>
              <a:rPr lang="en-IN" dirty="0">
                <a:solidFill>
                  <a:schemeClr val="tx1"/>
                </a:solidFill>
              </a:rPr>
              <a:t>, </a:t>
            </a:r>
            <a:r>
              <a:rPr lang="en-IN" u="sng" dirty="0">
                <a:solidFill>
                  <a:schemeClr val="tx1"/>
                </a:solidFill>
              </a:rPr>
              <a:t>https://docs.oracle.com</a:t>
            </a:r>
            <a:r>
              <a:rPr lang="en-IN" dirty="0">
                <a:solidFill>
                  <a:schemeClr val="tx1"/>
                </a:solidFill>
              </a:rPr>
              <a:t>  </a:t>
            </a:r>
          </a:p>
          <a:p>
            <a:pPr marL="285750" lvl="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Java Documentation (Oracle)</a:t>
            </a:r>
            <a:r>
              <a:rPr lang="en-IN" dirty="0">
                <a:solidFill>
                  <a:schemeClr val="tx1"/>
                </a:solidFill>
              </a:rPr>
              <a:t>,  </a:t>
            </a:r>
            <a:r>
              <a:rPr lang="en-IN" u="sng" dirty="0">
                <a:solidFill>
                  <a:schemeClr val="tx1"/>
                </a:solidFill>
              </a:rPr>
              <a:t>https://docs.oracle.com/javase</a:t>
            </a:r>
            <a:r>
              <a:rPr lang="en-IN" dirty="0">
                <a:solidFill>
                  <a:schemeClr val="tx1"/>
                </a:solidFill>
              </a:rPr>
              <a:t>  </a:t>
            </a:r>
          </a:p>
          <a:p>
            <a:pPr marL="285750" lvl="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JDBC Tutorial – </a:t>
            </a:r>
            <a:r>
              <a:rPr lang="en-IN" b="1" dirty="0" err="1">
                <a:solidFill>
                  <a:schemeClr val="tx1"/>
                </a:solidFill>
              </a:rPr>
              <a:t>GeeksforGeeks</a:t>
            </a:r>
            <a:r>
              <a:rPr lang="en-IN" dirty="0">
                <a:solidFill>
                  <a:schemeClr val="tx1"/>
                </a:solidFill>
              </a:rPr>
              <a:t>, </a:t>
            </a:r>
            <a:r>
              <a:rPr lang="en-IN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https://www.geeksforgeeks.org/jdbc/</a:t>
            </a:r>
            <a:endParaRPr lang="en-IN" dirty="0">
              <a:solidFill>
                <a:schemeClr val="tx1"/>
              </a:solidFill>
            </a:endParaRPr>
          </a:p>
          <a:p>
            <a:pPr marL="285750" lvl="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Java Swing Tutorial – </a:t>
            </a:r>
            <a:r>
              <a:rPr lang="en-IN" b="1" dirty="0" err="1">
                <a:solidFill>
                  <a:schemeClr val="tx1"/>
                </a:solidFill>
              </a:rPr>
              <a:t>TutorialsPoint</a:t>
            </a:r>
            <a:r>
              <a:rPr lang="en-IN" dirty="0">
                <a:solidFill>
                  <a:schemeClr val="tx1"/>
                </a:solidFill>
              </a:rPr>
              <a:t>,  https://www.tutorialspoint.com/java_swing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w3Schools Java Tutorial,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u="sng" dirty="0">
                <a:solidFill>
                  <a:schemeClr val="tx1"/>
                </a:solidFill>
              </a:rPr>
              <a:t>https://www.w3schools.com/java/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endParaRPr lang="en-US" sz="4800" dirty="0">
              <a:solidFill>
                <a:schemeClr val="tx1"/>
              </a:solidFill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32D71BC4-812B-11BE-6A6C-1CA5A91B779D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897A887-118D-142E-FC3E-D6BE5C1E979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69A73B6-BAAC-6763-2263-E88C0E65C7C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B12E086F-BA20-7EBA-DFAA-D7884D2F86C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CD22B9F6-01CA-54BB-97B5-0180CEF24C6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E459A9DA-9776-0281-AD94-A452E7257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4015" y="429568"/>
            <a:ext cx="27603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6E0266AA-A7A6-E24C-77B4-437EA276627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20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226219" y="2057400"/>
            <a:ext cx="9448800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34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Student Course Registration System was successfully developed as a desktop application. It replaces manual registration methods with an efficient digital solution.</a:t>
            </a:r>
          </a:p>
          <a:p>
            <a:pPr marL="81534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key functionalities like adding, updating, deleting, and registering courses. </a:t>
            </a:r>
          </a:p>
          <a:p>
            <a:pPr marL="81534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ensures data accuracy, security, and easy accessibility. The system improves institutional efficiency and reduces administrative workload.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TT Norms" panose="02000503030000020003"/>
              <a:cs typeface="Times New Roman" panose="02020603050405020304" pitchFamily="18" charset="0"/>
              <a:sym typeface="TT Norms" panose="02000503030000020003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0013F5A9BC3A4CB32E870EE9784523" ma:contentTypeVersion="5" ma:contentTypeDescription="Create a new document." ma:contentTypeScope="" ma:versionID="c226ffc0503f6c51f49abe21397f1b28">
  <xsd:schema xmlns:xsd="http://www.w3.org/2001/XMLSchema" xmlns:xs="http://www.w3.org/2001/XMLSchema" xmlns:p="http://schemas.microsoft.com/office/2006/metadata/properties" xmlns:ns3="10260ce4-cdaf-4108-9343-32bc6789a17e" targetNamespace="http://schemas.microsoft.com/office/2006/metadata/properties" ma:root="true" ma:fieldsID="d043ffb6345ef67c7eb5f430e69d35ab" ns3:_="">
    <xsd:import namespace="10260ce4-cdaf-4108-9343-32bc6789a17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260ce4-cdaf-4108-9343-32bc6789a17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260ce4-cdaf-4108-9343-32bc6789a17e" xsi:nil="true"/>
  </documentManagement>
</p:properties>
</file>

<file path=customXml/itemProps1.xml><?xml version="1.0" encoding="utf-8"?>
<ds:datastoreItem xmlns:ds="http://schemas.openxmlformats.org/officeDocument/2006/customXml" ds:itemID="{454D9BAB-3445-483F-A189-E768B8E869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260ce4-cdaf-4108-9343-32bc6789a1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3194DC-17FE-4178-86F2-D3290877D9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4B11E3-E393-402F-A2AA-3C2441971A23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10260ce4-cdaf-4108-9343-32bc6789a1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2640</TotalTime>
  <Words>1417</Words>
  <Application>Microsoft Office PowerPoint</Application>
  <PresentationFormat>Custom</PresentationFormat>
  <Paragraphs>230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Google Sans Text</vt:lpstr>
      <vt:lpstr>Arial</vt:lpstr>
      <vt:lpstr>Calibri</vt:lpstr>
      <vt:lpstr>Cambria</vt:lpstr>
      <vt:lpstr>Open Sauce</vt:lpstr>
      <vt:lpstr>Palatino Linotype</vt:lpstr>
      <vt:lpstr>Times New Roman</vt:lpstr>
      <vt:lpstr>Wingdings</vt:lpstr>
      <vt:lpstr>Office Theme</vt:lpstr>
      <vt:lpstr>Java Programming Cornerstone Project Final Review</vt:lpstr>
      <vt:lpstr>PowerPoint Presentation</vt:lpstr>
      <vt:lpstr>ABSTRACT</vt:lpstr>
      <vt:lpstr>PowerPoint Presentation</vt:lpstr>
      <vt:lpstr>PowerPoint Presentation</vt:lpstr>
      <vt:lpstr>PowerPoint Presentation</vt:lpstr>
      <vt:lpstr>Database Design</vt:lpstr>
      <vt:lpstr>Database Design</vt:lpstr>
      <vt:lpstr>Database Design</vt:lpstr>
      <vt:lpstr>Database Design</vt:lpstr>
      <vt:lpstr>SYSTEM DESIGN</vt:lpstr>
      <vt:lpstr>SYSTEM DESIGN</vt:lpstr>
      <vt:lpstr>SYSTEM DESIGN</vt:lpstr>
      <vt:lpstr>System Implementation</vt:lpstr>
      <vt:lpstr>System Implementation</vt:lpstr>
      <vt:lpstr>System Implementation</vt:lpstr>
      <vt:lpstr>System Implementation</vt:lpstr>
      <vt:lpstr>System Implementation</vt:lpstr>
      <vt:lpstr>System Implementation</vt:lpstr>
      <vt:lpstr>System Implementation</vt:lpstr>
      <vt:lpstr>Future Enhancements</vt:lpstr>
      <vt:lpstr>References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24B11DS221</cp:lastModifiedBy>
  <cp:revision>51</cp:revision>
  <cp:lastPrinted>2025-10-14T18:21:49Z</cp:lastPrinted>
  <dcterms:created xsi:type="dcterms:W3CDTF">2025-10-10T08:28:06Z</dcterms:created>
  <dcterms:modified xsi:type="dcterms:W3CDTF">2026-04-06T12:06:51Z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  <property fmtid="{D5CDD505-2E9C-101B-9397-08002B2CF9AE}" pid="4" name="ContentTypeId">
    <vt:lpwstr>0x010100420013F5A9BC3A4CB32E870EE9784523</vt:lpwstr>
  </property>
</Properties>
</file>